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58" r:id="rId4"/>
    <p:sldId id="263" r:id="rId5"/>
    <p:sldId id="264" r:id="rId6"/>
    <p:sldId id="265" r:id="rId7"/>
    <p:sldId id="266" r:id="rId8"/>
    <p:sldId id="269" r:id="rId9"/>
    <p:sldId id="268" r:id="rId10"/>
    <p:sldId id="270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2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2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14" y="466"/>
      </p:cViewPr>
      <p:guideLst>
        <p:guide orient="horz" pos="2160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A2EF7-7F0C-4E84-B18C-B3F19A6758E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FF022-E06A-483A-8B5D-D9E4F98B710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11.01407" TargetMode="External"/><Relationship Id="rId7" Type="http://schemas.openxmlformats.org/officeDocument/2006/relationships/image" Target="../media/image7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svg"/><Relationship Id="rId5" Type="http://schemas.openxmlformats.org/officeDocument/2006/relationships/hyperlink" Target="https://doi.org/10.48550/arXiv.2403.13079" TargetMode="External"/><Relationship Id="rId4" Type="http://schemas.openxmlformats.org/officeDocument/2006/relationships/hyperlink" Target="https://doi.org/10.48550/arXiv.2102.01217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形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95210" y="5852160"/>
            <a:ext cx="3943350" cy="525780"/>
          </a:xfrm>
          <a:prstGeom prst="rect">
            <a:avLst/>
          </a:prstGeom>
        </p:spPr>
      </p:pic>
      <p:pic>
        <p:nvPicPr>
          <p:cNvPr id="17" name="图形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860" y="5021580"/>
            <a:ext cx="12242800" cy="1836420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4500" y="5797549"/>
            <a:ext cx="4217198" cy="562293"/>
          </a:xfrm>
          <a:prstGeom prst="rect">
            <a:avLst/>
          </a:prstGeom>
        </p:spPr>
      </p:pic>
      <p:pic>
        <p:nvPicPr>
          <p:cNvPr id="27" name="图形 2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4601">
            <a:off x="-237084" y="-1104128"/>
            <a:ext cx="13275768" cy="3057106"/>
          </a:xfrm>
          <a:prstGeom prst="rect">
            <a:avLst/>
          </a:prstGeom>
        </p:spPr>
      </p:pic>
      <p:sp>
        <p:nvSpPr>
          <p:cNvPr id="28" name="标题 1"/>
          <p:cNvSpPr txBox="1"/>
          <p:nvPr/>
        </p:nvSpPr>
        <p:spPr>
          <a:xfrm>
            <a:off x="3851910" y="415607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819785" y="1788795"/>
            <a:ext cx="954087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等线" panose="02010600030101010101" charset="-122"/>
                <a:ea typeface="等线" panose="02010600030101010101" charset="-122"/>
              </a:rPr>
              <a:t>期末项目开题报告：</a:t>
            </a:r>
          </a:p>
          <a:p>
            <a:r>
              <a:rPr lang="zh-CN" altLang="en-US" sz="4800" b="1">
                <a:latin typeface="等线" panose="02010600030101010101" charset="-122"/>
                <a:ea typeface="等线" panose="02010600030101010101" charset="-122"/>
              </a:rPr>
              <a:t>三维物块表面几何映射绘画系统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951865" y="3655060"/>
            <a:ext cx="631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EE386 </a:t>
            </a:r>
            <a:r>
              <a:rPr lang="zh-CN" altLang="en-US">
                <a:sym typeface="+mn-ea"/>
              </a:rPr>
              <a:t>机器人运动与控制方法</a:t>
            </a:r>
            <a:r>
              <a:rPr lang="en-US" altLang="zh-CN">
                <a:sym typeface="+mn-ea"/>
              </a:rPr>
              <a:t>      </a:t>
            </a:r>
            <a:r>
              <a:rPr lang="zh-CN" altLang="en-US">
                <a:sym typeface="+mn-ea"/>
              </a:rPr>
              <a:t>第</a:t>
            </a:r>
            <a:r>
              <a:rPr lang="en-US" altLang="zh-CN">
                <a:sym typeface="+mn-ea"/>
              </a:rPr>
              <a:t>10</a:t>
            </a:r>
            <a:r>
              <a:rPr lang="zh-CN" altLang="en-US">
                <a:sym typeface="+mn-ea"/>
              </a:rPr>
              <a:t>组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俞皓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韩壹奇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黄斌鑫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938124" y="-985817"/>
            <a:ext cx="13275768" cy="27018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34440"/>
            <a:ext cx="10515600" cy="1325563"/>
          </a:xfrm>
        </p:spPr>
        <p:txBody>
          <a:bodyPr/>
          <a:lstStyle/>
          <a:p>
            <a:r>
              <a:rPr lang="zh-CN" altLang="en-US" b="1" dirty="0"/>
              <a:t>项目概述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60955"/>
            <a:ext cx="10515600" cy="3616325"/>
          </a:xfrm>
        </p:spPr>
        <p:txBody>
          <a:bodyPr/>
          <a:lstStyle/>
          <a:p>
            <a:r>
              <a:rPr lang="zh-CN" altLang="en-US" dirty="0"/>
              <a:t>本项目基于</a:t>
            </a:r>
            <a:r>
              <a:rPr lang="en-US" altLang="zh-CN" dirty="0"/>
              <a:t>Kinova Gen3 lite</a:t>
            </a:r>
            <a:r>
              <a:rPr lang="zh-CN" altLang="en-US" dirty="0"/>
              <a:t>机械臂，研发三维物块表面几何映射绘画系统，实现二维图形在已知姿态方块表面的自动绘制。</a:t>
            </a: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62345"/>
            <a:ext cx="12242800" cy="1836420"/>
          </a:xfrm>
          <a:prstGeom prst="rect">
            <a:avLst/>
          </a:prstGeom>
        </p:spPr>
      </p:pic>
      <p:sp>
        <p:nvSpPr>
          <p:cNvPr id="5" name="箭头: 五边形 4"/>
          <p:cNvSpPr/>
          <p:nvPr/>
        </p:nvSpPr>
        <p:spPr>
          <a:xfrm rot="5400000">
            <a:off x="702124" y="234315"/>
            <a:ext cx="1234440" cy="765810"/>
          </a:xfrm>
          <a:prstGeom prst="homePlate">
            <a:avLst/>
          </a:prstGeom>
          <a:solidFill>
            <a:srgbClr val="0342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20" y="161608"/>
            <a:ext cx="489848" cy="717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938124" y="-985817"/>
            <a:ext cx="13275768" cy="27018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34440"/>
            <a:ext cx="10515600" cy="1325563"/>
          </a:xfrm>
        </p:spPr>
        <p:txBody>
          <a:bodyPr/>
          <a:lstStyle/>
          <a:p>
            <a:r>
              <a:rPr lang="zh-CN" altLang="en-US" b="1" dirty="0"/>
              <a:t>项目目标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60955"/>
            <a:ext cx="10515600" cy="3616325"/>
          </a:xfrm>
        </p:spPr>
        <p:txBody>
          <a:bodyPr/>
          <a:lstStyle/>
          <a:p>
            <a:r>
              <a:rPr lang="zh-CN" altLang="en-US" dirty="0"/>
              <a:t>熟悉</a:t>
            </a:r>
            <a:r>
              <a:rPr lang="en-US" altLang="zh-CN" dirty="0">
                <a:sym typeface="+mn-ea"/>
              </a:rPr>
              <a:t>Kinova Gen3 lite</a:t>
            </a:r>
            <a:r>
              <a:rPr lang="zh-CN" altLang="en-US" dirty="0">
                <a:sym typeface="+mn-ea"/>
              </a:rPr>
              <a:t>机械臂基本控制方法</a:t>
            </a:r>
            <a:endParaRPr lang="zh-CN" altLang="en-US" dirty="0"/>
          </a:p>
          <a:p>
            <a:r>
              <a:rPr lang="zh-CN" altLang="en-US" dirty="0"/>
              <a:t>研究几何投影映射方法，将 2</a:t>
            </a:r>
            <a:r>
              <a:rPr lang="en-US" altLang="zh-CN" dirty="0"/>
              <a:t>D </a:t>
            </a:r>
            <a:r>
              <a:rPr lang="zh-CN" altLang="en-US" dirty="0"/>
              <a:t>图形转化为 3</a:t>
            </a:r>
            <a:r>
              <a:rPr lang="en-US" altLang="zh-CN" dirty="0"/>
              <a:t>D </a:t>
            </a:r>
            <a:r>
              <a:rPr lang="zh-CN" altLang="en-US" dirty="0"/>
              <a:t>轨迹点。</a:t>
            </a:r>
          </a:p>
          <a:p>
            <a:r>
              <a:rPr lang="zh-CN" altLang="en-US" dirty="0"/>
              <a:t>整合已有开源运动规划代码，实现</a:t>
            </a:r>
            <a:r>
              <a:rPr lang="zh-CN" altLang="en-US" b="1" dirty="0"/>
              <a:t>位置控制 + 轨迹规划</a:t>
            </a:r>
            <a:r>
              <a:rPr lang="zh-CN" altLang="en-US" dirty="0"/>
              <a:t>的闭环绘图。</a:t>
            </a:r>
          </a:p>
          <a:p>
            <a:r>
              <a:rPr lang="zh-CN" altLang="en-US" dirty="0"/>
              <a:t>在实验平台上验证绘图精度和轨迹平滑性。</a:t>
            </a:r>
            <a:endParaRPr lang="en-US" altLang="zh-CN" dirty="0"/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6062345"/>
            <a:ext cx="12242800" cy="1836420"/>
          </a:xfrm>
          <a:prstGeom prst="rect">
            <a:avLst/>
          </a:prstGeom>
        </p:spPr>
      </p:pic>
      <p:sp>
        <p:nvSpPr>
          <p:cNvPr id="5" name="箭头: 五边形 4"/>
          <p:cNvSpPr/>
          <p:nvPr/>
        </p:nvSpPr>
        <p:spPr>
          <a:xfrm rot="5400000">
            <a:off x="702124" y="234315"/>
            <a:ext cx="1234440" cy="765810"/>
          </a:xfrm>
          <a:prstGeom prst="homePlate">
            <a:avLst/>
          </a:prstGeom>
          <a:solidFill>
            <a:srgbClr val="0342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20" y="161608"/>
            <a:ext cx="489848" cy="7175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875894" y="-985817"/>
            <a:ext cx="13275768" cy="27018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34440"/>
            <a:ext cx="10515600" cy="1325563"/>
          </a:xfrm>
        </p:spPr>
        <p:txBody>
          <a:bodyPr/>
          <a:lstStyle/>
          <a:p>
            <a:r>
              <a:rPr lang="zh-CN" altLang="en-US" b="1" dirty="0"/>
              <a:t>技术路线</a:t>
            </a: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idx="1"/>
          </p:nvPr>
        </p:nvGraphicFramePr>
        <p:xfrm>
          <a:off x="1105535" y="2365217"/>
          <a:ext cx="9980930" cy="3896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36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4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24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 b="1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层级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 b="1" spc="120">
                          <a:latin typeface="Calibri" panose="020F0502020204030204" charset="0"/>
                          <a:ea typeface="Arial" panose="020B0604020202020204" pitchFamily="34" charset="0"/>
                        </a:rPr>
                        <a:t>内容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72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>
                          <a:latin typeface="Calibri" panose="020F0502020204030204" charset="0"/>
                          <a:ea typeface="Arial" panose="020B0604020202020204" pitchFamily="34" charset="0"/>
                        </a:rPr>
                        <a:t>硬件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Kinova Gen3 lite </a:t>
                      </a:r>
                      <a:r>
                        <a:rPr lang="zh-CN" altLang="en-US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机械臂 + 画笔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>
                          <a:latin typeface="Calibri" panose="020F0502020204030204" charset="0"/>
                          <a:ea typeface="Arial" panose="020B0604020202020204" pitchFamily="34" charset="0"/>
                        </a:rPr>
                        <a:t>软件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Ubuntu + ROS Noetic +</a:t>
                      </a:r>
                      <a:r>
                        <a:rPr lang="zh-CN" altLang="en-US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开源运动控制脚本</a:t>
                      </a:r>
                    </a:p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Python </a:t>
                      </a:r>
                      <a:r>
                        <a:rPr lang="zh-CN" altLang="en-US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几何映射脚本</a:t>
                      </a:r>
                    </a:p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轨迹转换与控制脚本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71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2800">
                          <a:latin typeface="Calibri" panose="020F0502020204030204" charset="0"/>
                          <a:ea typeface="Arial" panose="020B0604020202020204" pitchFamily="34" charset="0"/>
                        </a:rPr>
                        <a:t>关键算法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1) 坐标系转换</a:t>
                      </a:r>
                    </a:p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2) 轨迹离散化与路径平滑</a:t>
                      </a:r>
                    </a:p>
                    <a:p>
                      <a:pPr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800">
                          <a:latin typeface="Calibri" panose="020F0502020204030204" charset="0"/>
                          <a:ea typeface="Arial" panose="020B0604020202020204" pitchFamily="34" charset="0"/>
                        </a:rPr>
                        <a:t>3) 换面逻辑与姿态约束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图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6062345"/>
            <a:ext cx="12242800" cy="1836420"/>
          </a:xfrm>
          <a:prstGeom prst="rect">
            <a:avLst/>
          </a:prstGeom>
        </p:spPr>
      </p:pic>
      <p:sp>
        <p:nvSpPr>
          <p:cNvPr id="5" name="箭头: 五边形 4"/>
          <p:cNvSpPr/>
          <p:nvPr/>
        </p:nvSpPr>
        <p:spPr>
          <a:xfrm rot="5400000">
            <a:off x="702124" y="234315"/>
            <a:ext cx="1234440" cy="765810"/>
          </a:xfrm>
          <a:prstGeom prst="homePlate">
            <a:avLst/>
          </a:prstGeom>
          <a:solidFill>
            <a:srgbClr val="0342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20" y="161608"/>
            <a:ext cx="489848" cy="7175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938124" y="-985817"/>
            <a:ext cx="13275768" cy="27018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34440"/>
            <a:ext cx="10515600" cy="1325563"/>
          </a:xfrm>
        </p:spPr>
        <p:txBody>
          <a:bodyPr/>
          <a:lstStyle/>
          <a:p>
            <a:r>
              <a:rPr lang="zh-CN" altLang="en-US" b="1" dirty="0"/>
              <a:t>坐标系转换与几何投影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60955"/>
            <a:ext cx="10515600" cy="3616325"/>
          </a:xfrm>
        </p:spPr>
        <p:txBody>
          <a:bodyPr>
            <a:normAutofit fontScale="92500"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zh-CN" dirty="0"/>
              <a:t>DH </a:t>
            </a:r>
            <a:r>
              <a:rPr lang="zh-CN" altLang="en-US" dirty="0"/>
              <a:t>参数建模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/>
              <a:t>采用</a:t>
            </a:r>
            <a:r>
              <a:rPr lang="en-US" altLang="zh-CN" dirty="0"/>
              <a:t>D-H</a:t>
            </a:r>
            <a:r>
              <a:rPr lang="zh-CN" altLang="en-US" dirty="0"/>
              <a:t>法描述机械臂每一段的相对位姿，通过连乘各段的齐次变换矩阵得到从基座到末端执行器的整体变换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物块局部坐标系</a:t>
            </a:r>
            <a:r>
              <a:rPr lang="en-US" altLang="zh-CN" dirty="0"/>
              <a:t>S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/>
              <a:t>对每个绘制面预先建立局部坐标系，实现基坐标系与面局部坐标系的映射</a:t>
            </a:r>
          </a:p>
          <a:p>
            <a:pPr marL="514350" lvl="0" indent="-514350">
              <a:lnSpc>
                <a:spcPct val="150000"/>
              </a:lnSpc>
              <a:buAutoNum type="arabicPeriod"/>
            </a:pPr>
            <a:r>
              <a:rPr lang="zh-CN" altLang="en-US" dirty="0">
                <a:solidFill>
                  <a:schemeClr val="tx1"/>
                </a:solidFill>
              </a:rPr>
              <a:t>额外</a:t>
            </a:r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代码辅助运算</a:t>
            </a: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6062345"/>
            <a:ext cx="12242800" cy="1836420"/>
          </a:xfrm>
          <a:prstGeom prst="rect">
            <a:avLst/>
          </a:prstGeom>
        </p:spPr>
      </p:pic>
      <p:sp>
        <p:nvSpPr>
          <p:cNvPr id="5" name="箭头: 五边形 4"/>
          <p:cNvSpPr/>
          <p:nvPr/>
        </p:nvSpPr>
        <p:spPr>
          <a:xfrm rot="5400000">
            <a:off x="702124" y="234315"/>
            <a:ext cx="1234440" cy="765810"/>
          </a:xfrm>
          <a:prstGeom prst="homePlate">
            <a:avLst/>
          </a:prstGeom>
          <a:solidFill>
            <a:srgbClr val="0342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20" y="161608"/>
            <a:ext cx="489848" cy="717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938124" y="-985817"/>
            <a:ext cx="13275768" cy="27018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34440"/>
            <a:ext cx="10515600" cy="1325563"/>
          </a:xfrm>
        </p:spPr>
        <p:txBody>
          <a:bodyPr/>
          <a:lstStyle/>
          <a:p>
            <a:r>
              <a:rPr lang="zh-CN" altLang="en-US" b="1" dirty="0"/>
              <a:t>轨迹生成与平滑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60955"/>
            <a:ext cx="10515600" cy="385699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zh-CN" altLang="en-US" dirty="0"/>
              <a:t>离散化：对每条二维轮廓等距采样</a:t>
            </a:r>
          </a:p>
          <a:p>
            <a:pPr marL="514350" indent="-514350">
              <a:buAutoNum type="arabicPeriod"/>
            </a:pP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投影：利用变换公式将所有离散点映射到基座坐标系</a:t>
            </a:r>
          </a:p>
          <a:p>
            <a:pPr marL="514350" indent="-514350">
              <a:buAutoNum type="arabicPeriod"/>
            </a:pPr>
            <a:endParaRPr lang="zh-CN" altLang="en-US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dirty="0"/>
              <a:t>路径平滑：对得到的三维点序列进行插值，生成光滑的轨迹</a:t>
            </a:r>
          </a:p>
          <a:p>
            <a:pPr marL="514350" indent="-514350">
              <a:buAutoNum type="arabicPeriod"/>
            </a:pPr>
            <a:endParaRPr lang="zh-CN" altLang="en-US" dirty="0"/>
          </a:p>
          <a:p>
            <a:pPr marL="514350" indent="-514350">
              <a:buAutoNum type="arabicPeriod"/>
            </a:pPr>
            <a:r>
              <a:rPr lang="zh-CN" altLang="en-US" dirty="0"/>
              <a:t>逆运动学求解</a:t>
            </a: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62345"/>
            <a:ext cx="12242800" cy="1836420"/>
          </a:xfrm>
          <a:prstGeom prst="rect">
            <a:avLst/>
          </a:prstGeom>
        </p:spPr>
      </p:pic>
      <p:sp>
        <p:nvSpPr>
          <p:cNvPr id="5" name="箭头: 五边形 4"/>
          <p:cNvSpPr/>
          <p:nvPr/>
        </p:nvSpPr>
        <p:spPr>
          <a:xfrm rot="5400000">
            <a:off x="702124" y="234315"/>
            <a:ext cx="1234440" cy="765810"/>
          </a:xfrm>
          <a:prstGeom prst="homePlate">
            <a:avLst/>
          </a:prstGeom>
          <a:solidFill>
            <a:srgbClr val="0342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20" y="161608"/>
            <a:ext cx="489848" cy="7175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938124" y="-985817"/>
            <a:ext cx="13275768" cy="27018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34440"/>
            <a:ext cx="10515600" cy="1325563"/>
          </a:xfrm>
        </p:spPr>
        <p:txBody>
          <a:bodyPr/>
          <a:lstStyle/>
          <a:p>
            <a:r>
              <a:rPr lang="zh-CN" altLang="en-US" b="1" dirty="0"/>
              <a:t>换面逻辑与姿态约束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388235"/>
            <a:ext cx="10515600" cy="3856990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zh-CN" altLang="en-US" dirty="0"/>
              <a:t>状态过程：</a:t>
            </a:r>
            <a:r>
              <a:rPr lang="en-US" altLang="zh-CN" dirty="0"/>
              <a:t>DRAW → LIFT → ROTATE → MOVE → LOWER → DRAW</a:t>
            </a:r>
            <a:r>
              <a:rPr lang="zh-CN" altLang="en-US" dirty="0"/>
              <a:t>循环，控制笔尖在不同面之间的切换。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zh-CN" altLang="en-US" dirty="0"/>
              <a:t>抬笔与下笔：在换面前将末端执行器沿当前面法向方向抬起</a:t>
            </a:r>
            <a:r>
              <a:rPr lang="en-US" altLang="zh-CN" dirty="0"/>
              <a:t>，</a:t>
            </a:r>
            <a:r>
              <a:rPr lang="zh-CN" altLang="en-US" dirty="0"/>
              <a:t>换面后再沿新面法向下移至绘制高度。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zh-CN" altLang="en-US" dirty="0"/>
              <a:t>姿态约束：确保笔尖的法向始终与当前绘制面的法向对齐，可通过在末端姿态矩阵中引入对应的旋转实现。</a:t>
            </a:r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zh-CN" altLang="en-US" dirty="0"/>
              <a:t>避障：在每一步规划前进行碰撞检测，若检测到潜在冲突则在路径点中插入微调点或降低运动速度。</a:t>
            </a: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62345"/>
            <a:ext cx="12242800" cy="1836420"/>
          </a:xfrm>
          <a:prstGeom prst="rect">
            <a:avLst/>
          </a:prstGeom>
        </p:spPr>
      </p:pic>
      <p:sp>
        <p:nvSpPr>
          <p:cNvPr id="5" name="箭头: 五边形 4"/>
          <p:cNvSpPr/>
          <p:nvPr/>
        </p:nvSpPr>
        <p:spPr>
          <a:xfrm rot="5400000">
            <a:off x="702124" y="234315"/>
            <a:ext cx="1234440" cy="765810"/>
          </a:xfrm>
          <a:prstGeom prst="homePlate">
            <a:avLst/>
          </a:prstGeom>
          <a:solidFill>
            <a:srgbClr val="0342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20" y="161608"/>
            <a:ext cx="489848" cy="7175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938124" y="-985817"/>
            <a:ext cx="13275768" cy="27018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234440"/>
            <a:ext cx="10515600" cy="1325563"/>
          </a:xfrm>
        </p:spPr>
        <p:txBody>
          <a:bodyPr/>
          <a:lstStyle/>
          <a:p>
            <a:r>
              <a:rPr lang="zh-CN" altLang="en-US" b="1" dirty="0"/>
              <a:t>预期成果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560955"/>
            <a:ext cx="10515600" cy="3616325"/>
          </a:xfrm>
        </p:spPr>
        <p:txBody>
          <a:bodyPr/>
          <a:lstStyle/>
          <a:p>
            <a:r>
              <a:rPr lang="zh-CN" altLang="en-US" dirty="0"/>
              <a:t>技术报告。</a:t>
            </a:r>
          </a:p>
          <a:p>
            <a:r>
              <a:rPr lang="zh-CN" altLang="en-US" dirty="0"/>
              <a:t>多面体表面绘图实机演示与误差统计</a:t>
            </a:r>
            <a:r>
              <a:rPr lang="en-US" altLang="zh-CN" dirty="0"/>
              <a:t>。</a:t>
            </a:r>
            <a:endParaRPr lang="zh-CN" altLang="en-US" dirty="0"/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062345"/>
            <a:ext cx="12242800" cy="1836420"/>
          </a:xfrm>
          <a:prstGeom prst="rect">
            <a:avLst/>
          </a:prstGeom>
        </p:spPr>
      </p:pic>
      <p:sp>
        <p:nvSpPr>
          <p:cNvPr id="5" name="箭头: 五边形 4"/>
          <p:cNvSpPr/>
          <p:nvPr/>
        </p:nvSpPr>
        <p:spPr>
          <a:xfrm rot="5400000">
            <a:off x="702124" y="234315"/>
            <a:ext cx="1234440" cy="765810"/>
          </a:xfrm>
          <a:prstGeom prst="homePlate">
            <a:avLst/>
          </a:prstGeom>
          <a:solidFill>
            <a:srgbClr val="0342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4420" y="161608"/>
            <a:ext cx="489848" cy="7175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BA81-2976-8FE2-BDD1-2A7882D9E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E3501844-FBA5-3CB7-7648-67F795DAD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-938124" y="-985817"/>
            <a:ext cx="13275768" cy="270188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7ADEB06-C40D-82AF-0F1F-DB97E838E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0" y="1040739"/>
            <a:ext cx="10515600" cy="1325563"/>
          </a:xfrm>
        </p:spPr>
        <p:txBody>
          <a:bodyPr/>
          <a:lstStyle/>
          <a:p>
            <a:r>
              <a:rPr lang="zh-CN" altLang="en-US" b="1" dirty="0"/>
              <a:t>参考文献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2B530-1867-F7F8-1947-604B0120F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20257"/>
            <a:ext cx="10515600" cy="395702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/>
              <a:t>Rabino, P., Tiboni, G., &amp; Tommasi, T. (2025). </a:t>
            </a:r>
            <a:r>
              <a:rPr lang="en-US" altLang="zh-CN" dirty="0" err="1"/>
              <a:t>FoldPath</a:t>
            </a:r>
            <a:r>
              <a:rPr lang="en-US" altLang="zh-CN" dirty="0"/>
              <a:t>: End-to-End Object-Centric Motion Generation via Modulated Implicit Paths. </a:t>
            </a:r>
            <a:r>
              <a:rPr lang="en-US" altLang="zh-CN" dirty="0" err="1"/>
              <a:t>arXiv</a:t>
            </a:r>
            <a:r>
              <a:rPr lang="en-US" altLang="zh-CN" dirty="0"/>
              <a:t> preprint. </a:t>
            </a:r>
            <a:r>
              <a:rPr lang="en-US" altLang="zh-CN" dirty="0">
                <a:hlinkClick r:id="rId3"/>
              </a:rPr>
              <a:t>https://arxiv.org/abs/2511.01407</a:t>
            </a:r>
            <a:endParaRPr lang="en-US" altLang="zh-CN" dirty="0"/>
          </a:p>
          <a:p>
            <a:r>
              <a:rPr lang="en-US" altLang="zh-CN" dirty="0"/>
              <a:t>Liu, </a:t>
            </a:r>
            <a:r>
              <a:rPr lang="en-US" altLang="zh-CN" dirty="0" err="1"/>
              <a:t>Ruishuang</a:t>
            </a:r>
            <a:r>
              <a:rPr lang="en-US" altLang="zh-CN" dirty="0"/>
              <a:t> &amp; Wan, Weiwei &amp; Koyama, Keisuke &amp; Harada, Kensuke. (2021). Robust Robotic 3-D Drawing Using Closed-Loop Planning and Online Picked Pens. IEEE Transactions on Robotics. PP. 1-20. 10.1109/TRO.2021.3113996. </a:t>
            </a:r>
          </a:p>
          <a:p>
            <a:r>
              <a:rPr lang="en-US" altLang="zh-CN" dirty="0" err="1"/>
              <a:t>Montazer</a:t>
            </a:r>
            <a:r>
              <a:rPr lang="en-US" altLang="zh-CN" dirty="0"/>
              <a:t> </a:t>
            </a:r>
            <a:r>
              <a:rPr lang="en-US" altLang="zh-CN" dirty="0" err="1"/>
              <a:t>Zohour</a:t>
            </a:r>
            <a:r>
              <a:rPr lang="en-US" altLang="zh-CN" dirty="0"/>
              <a:t>, H., </a:t>
            </a:r>
            <a:r>
              <a:rPr lang="en-US" altLang="zh-CN" dirty="0" err="1"/>
              <a:t>Belzile</a:t>
            </a:r>
            <a:r>
              <a:rPr lang="en-US" altLang="zh-CN" dirty="0"/>
              <a:t>, B., &amp; St-Onge, D. (2021). *</a:t>
            </a:r>
            <a:r>
              <a:rPr lang="en-US" altLang="zh-CN" dirty="0" err="1"/>
              <a:t>Kinova</a:t>
            </a:r>
            <a:r>
              <a:rPr lang="en-US" altLang="zh-CN" dirty="0"/>
              <a:t> Gen3-Lite manipulator inverse kinematics: optimal polynomial solution*. </a:t>
            </a:r>
            <a:r>
              <a:rPr lang="en-US" altLang="zh-CN" dirty="0" err="1"/>
              <a:t>arXiv</a:t>
            </a:r>
            <a:r>
              <a:rPr lang="en-US" altLang="zh-CN" dirty="0"/>
              <a:t>. </a:t>
            </a:r>
            <a:r>
              <a:rPr lang="en-US" altLang="zh-CN" dirty="0">
                <a:hlinkClick r:id="rId4"/>
              </a:rPr>
              <a:t>https://doi.org/10.48550/arXiv.2102.01217</a:t>
            </a:r>
            <a:endParaRPr lang="en-US" altLang="zh-CN" dirty="0"/>
          </a:p>
          <a:p>
            <a:r>
              <a:rPr lang="en-US" altLang="zh-CN" dirty="0"/>
              <a:t>de Wolde, J., Knoedler, L., Garofalo, G., &amp; Alonso-Mora, J. (2024). Current-Based Impedance Control for Interacting with Mobile Manipulators. </a:t>
            </a:r>
            <a:r>
              <a:rPr lang="en-US" altLang="zh-CN" dirty="0" err="1"/>
              <a:t>arXiv</a:t>
            </a:r>
            <a:r>
              <a:rPr lang="en-US" altLang="zh-CN" dirty="0"/>
              <a:t>. </a:t>
            </a:r>
            <a:r>
              <a:rPr lang="en-US" altLang="zh-CN" dirty="0">
                <a:hlinkClick r:id="rId5"/>
              </a:rPr>
              <a:t>https://doi.org/10.48550/arXiv.2403.13079</a:t>
            </a:r>
            <a:endParaRPr lang="en-US" altLang="zh-CN" dirty="0"/>
          </a:p>
          <a:p>
            <a:r>
              <a:rPr lang="en-US" altLang="zh-CN" dirty="0"/>
              <a:t>Song, D., Park, J., &amp; Kim, Y. J. (2023). SSK: Robotic Pen-Art System for Large, Nonplanar Canvas. IEEE Transactions on Robotics, 39(4), 3106-3119.</a:t>
            </a:r>
          </a:p>
          <a:p>
            <a:r>
              <a:rPr lang="en-US" altLang="zh-CN" dirty="0" err="1"/>
              <a:t>Amersdorfer</a:t>
            </a:r>
            <a:r>
              <a:rPr lang="en-US" altLang="zh-CN" dirty="0"/>
              <a:t>, M., Kappey, J., &amp; Meurer, T. (2020). Real-time freeform surface and path tracking for force controlled robotic tooling applications. *Robotics and Computer-Integrated Manufacturing, 65*, 101955. https://doi.org/10.1016/j.rcim.2020.101955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3436E5C4-6F96-DEEA-3BBD-239F66F99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6062345"/>
            <a:ext cx="12242800" cy="1836420"/>
          </a:xfrm>
          <a:prstGeom prst="rect">
            <a:avLst/>
          </a:prstGeom>
        </p:spPr>
      </p:pic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50111C21-7307-1555-47E2-3FBE21850BC6}"/>
              </a:ext>
            </a:extLst>
          </p:cNvPr>
          <p:cNvSpPr/>
          <p:nvPr/>
        </p:nvSpPr>
        <p:spPr>
          <a:xfrm rot="5400000">
            <a:off x="702124" y="234315"/>
            <a:ext cx="1234440" cy="765810"/>
          </a:xfrm>
          <a:prstGeom prst="homePlate">
            <a:avLst/>
          </a:prstGeom>
          <a:solidFill>
            <a:srgbClr val="03424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8661BD69-2DF0-40D5-9B9A-AEF53EB56D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4420" y="161608"/>
            <a:ext cx="489848" cy="71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64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3866">
            <a:off x="-541884" y="1560614"/>
            <a:ext cx="13275768" cy="305710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5840" y="2766218"/>
            <a:ext cx="10515600" cy="1325563"/>
          </a:xfrm>
        </p:spPr>
        <p:txBody>
          <a:bodyPr/>
          <a:lstStyle/>
          <a:p>
            <a:r>
              <a:rPr lang="zh-CN" altLang="en-US" dirty="0"/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683</Words>
  <Application>Microsoft Office PowerPoint</Application>
  <PresentationFormat>宽屏</PresentationFormat>
  <Paragraphs>53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Arial</vt:lpstr>
      <vt:lpstr>Calibri</vt:lpstr>
      <vt:lpstr>Calibri Light</vt:lpstr>
      <vt:lpstr>Office 主题​​</vt:lpstr>
      <vt:lpstr>1_Office 主题​​</vt:lpstr>
      <vt:lpstr>PowerPoint 演示文稿</vt:lpstr>
      <vt:lpstr>项目概述</vt:lpstr>
      <vt:lpstr>项目目标</vt:lpstr>
      <vt:lpstr>技术路线</vt:lpstr>
      <vt:lpstr>坐标系转换与几何投影</vt:lpstr>
      <vt:lpstr>轨迹生成与平滑</vt:lpstr>
      <vt:lpstr>换面逻辑与姿态约束</vt:lpstr>
      <vt:lpstr>预期成果</vt:lpstr>
      <vt:lpstr>参考文献</vt:lpstr>
      <vt:lpstr>感谢观看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SUSTech heyStudio</dc:creator>
  <cp:lastModifiedBy>斌鑫 黄</cp:lastModifiedBy>
  <cp:revision>10</cp:revision>
  <dcterms:created xsi:type="dcterms:W3CDTF">2019-10-15T12:44:00Z</dcterms:created>
  <dcterms:modified xsi:type="dcterms:W3CDTF">2026-04-28T14:16:04Z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FE97AC4C3C804519AE19BF6BEBEB19F7_12</vt:lpwstr>
  </property>
</Properties>
</file>